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equity (start = 1)</c:v>
                </c:pt>
              </c:strCache>
            </c:strRef>
          </c:tx>
          <c:spPr>
            <a:ln w="25400">
              <a:solidFill>
                <a:srgbClr val="1F6F8B"/>
              </a:solidFill>
            </a:ln>
          </c:spPr>
          <c:marker>
            <c:symbol val="none"/>
          </c:marker>
          <c:cat>
            <c:strRef>
              <c:f>Sheet1!$A$2:$A$13</c:f>
              <c:strCache>
                <c:ptCount val="12"/>
                <c:pt idx="0">
                  <c:v>Start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  <c:pt idx="8">
                  <c:v>2023</c:v>
                </c:pt>
                <c:pt idx="9">
                  <c:v>2024</c:v>
                </c:pt>
                <c:pt idx="10">
                  <c:v>2025</c:v>
                </c:pt>
                <c:pt idx="11">
                  <c:v>2026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1.0</c:v>
                </c:pt>
                <c:pt idx="1">
                  <c:v>0.9954</c:v>
                </c:pt>
                <c:pt idx="2">
                  <c:v>0.7772</c:v>
                </c:pt>
                <c:pt idx="3">
                  <c:v>0.7888</c:v>
                </c:pt>
                <c:pt idx="4">
                  <c:v>0.7499</c:v>
                </c:pt>
                <c:pt idx="5">
                  <c:v>0.685</c:v>
                </c:pt>
                <c:pt idx="6">
                  <c:v>0.4855</c:v>
                </c:pt>
                <c:pt idx="7">
                  <c:v>0.4993</c:v>
                </c:pt>
                <c:pt idx="8">
                  <c:v>0.5383</c:v>
                </c:pt>
                <c:pt idx="9">
                  <c:v>0.5379</c:v>
                </c:pt>
                <c:pt idx="10">
                  <c:v>0.5182</c:v>
                </c:pt>
                <c:pt idx="11">
                  <c:v>0.5447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860B"/>
                </a:solidFill>
                <a:latin typeface="Calibri"/>
              </a:rPr>
              <a:t>ASIA QUANT ACADEMY  ·  WEEKLY TASK  ·  17 AUGUST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77240"/>
            <a:ext cx="1115568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Calibri"/>
              </a:rPr>
              <a:t>Statistical arbitrage on the
Shanghai Stock Exchange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6596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0D8"/>
                </a:solidFill>
                <a:latin typeface="Calibri"/>
              </a:rPr>
              <a:t>Build a reusable market-data system first, then test whether a classic pairs / mean-reversion
strategy has an edge on China A-shares after realistic costs.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2880360"/>
            <a:ext cx="2788920" cy="2606040"/>
          </a:xfrm>
          <a:prstGeom prst="roundRect">
            <a:avLst>
              <a:gd name="adj" fmla="val 6000"/>
            </a:avLst>
          </a:prstGeom>
          <a:solidFill>
            <a:srgbClr val="16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735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Store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0D8"/>
                </a:solidFill>
                <a:latin typeface="Calibri"/>
              </a:rPr>
              <a:t>SSE daily bars since 2010 in MongoDB, with a unique (ticker, date) index.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2880360"/>
            <a:ext cx="2788920" cy="2606040"/>
          </a:xfrm>
          <a:prstGeom prst="roundRect">
            <a:avLst>
              <a:gd name="adj" fmla="val 6000"/>
            </a:avLst>
          </a:prstGeom>
          <a:solidFill>
            <a:srgbClr val="16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32735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Serve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749039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0D8"/>
                </a:solidFill>
                <a:latin typeface="Calibri"/>
              </a:rPr>
              <a:t>REST API: start, end, ticker, fields → time series. Cron updater.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2880360"/>
            <a:ext cx="2788920" cy="2606040"/>
          </a:xfrm>
          <a:prstGeom prst="roundRect">
            <a:avLst>
              <a:gd name="adj" fmla="val 6000"/>
            </a:avLst>
          </a:prstGeom>
          <a:solidFill>
            <a:srgbClr val="16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Calibr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735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Cluster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749039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0D8"/>
                </a:solidFill>
                <a:latin typeface="Calibri"/>
              </a:rPr>
              <a:t>Correlate log returns, convert to distance, group similar names.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2880360"/>
            <a:ext cx="2788920" cy="2606040"/>
          </a:xfrm>
          <a:prstGeom prst="roundRect">
            <a:avLst>
              <a:gd name="adj" fmla="val 6000"/>
            </a:avLst>
          </a:prstGeom>
          <a:solidFill>
            <a:srgbClr val="1638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0" y="2999232"/>
            <a:ext cx="2514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Calibri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73552"/>
            <a:ext cx="2514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Trade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3749039"/>
            <a:ext cx="251460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8D0D8"/>
                </a:solidFill>
                <a:latin typeface="Calibri"/>
              </a:rPr>
              <a:t>Cointegrated pairs, z-score mean reversion, walk-forward backtest.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6692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B8860B"/>
                </a:solidFill>
                <a:latin typeface="Calibri"/>
              </a:rPr>
              <a:t>Prices: Yahoo Finance adjusted close (.SS). Universe list: East Money SSE A + STAR.
Add your name here before upload.  Repo: sse-stat-arb.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brief, in the order we built 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The email asks for a data layer that future weeks can reuse, plus a first look at statistical arbitrage. We therefore split the work: persist and serve history, then research on top of the same API.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571500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572768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3"/>
                </a:solidFill>
                <a:latin typeface="Calibri"/>
              </a:rPr>
              <a:t>Data system  (must survive later tasks)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965960"/>
            <a:ext cx="5394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MongoDB holds every SSE daily bar we ingest. One document = one ticker on one day.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REST GET /v1/timeseries is the contract in the brief: start, end, ticker, fields.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sse-data bootstrap loads history since 2010; sse-data update fills new days.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Unique (ticker, date) means a rerun overwrites, it never duplicates.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Research never writes into daily_bars — clustering/backtest are separate.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516636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Why this shape: next week you can add pairs or factors without migrating the database or breaking the API.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1463040"/>
            <a:ext cx="566928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5727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3"/>
                </a:solidFill>
                <a:latin typeface="Calibri"/>
              </a:rPr>
              <a:t>Strategy  (A → B → C → 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1965960"/>
            <a:ext cx="53035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A  Correlate daily log returns. Turn ρ into a distance so we can cluster.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B  Average-linkage clustering. Check that groups look like banks, energy, liquor.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C  Inside a cluster, keep cointegrated pairs and trade the residual with a z-score.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D  Walk-forward backtest, net of A-share costs, fill at t+1 (T+1).</a:t>
            </a:r>
          </a:p>
          <a:p>
            <a:pPr>
              <a:spcBef>
                <a:spcPts val="0"/>
              </a:spcBef>
              <a:spcAft>
                <a:spcPts val="10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Result: clusters are economic; the trade does not beat costs on mega-caps.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166360"/>
            <a:ext cx="5303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That last point is the finding, not a bug. Liquid large-caps are crowded. The data system is still the right foundation.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DATA LAYER  ·  STORAGE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How history is stored — and why the schema looks like this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A pairs engine will query thousands of days for many tickers. The unit of storage is therefore a daily bar, keyed so that ingest, API, and research all agree on the same row.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Calibri"/>
              </a:rPr>
              <a:t>Yahoo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87451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OHLCV + adj close
.SS tickers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50008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679192" y="146304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9192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9192" y="187451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bootstrap / update
batched, resumable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38344" y="146304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38344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MongoDB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38344" y="187451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0D8"/>
                </a:solidFill>
                <a:latin typeface="Calibri"/>
              </a:rPr>
              <a:t>daily_bars +
instruments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68312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97496" y="146304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97496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7496" y="187451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0D8"/>
                </a:solidFill>
                <a:latin typeface="Calibri"/>
              </a:rPr>
              <a:t>GET /v1/
timeseries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427464" y="1874519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56648" y="1463040"/>
            <a:ext cx="2194560" cy="1325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56648" y="153619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Calibri"/>
              </a:rPr>
              <a:t>Research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56648" y="1874519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corr, clusters,
backtest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320040" y="2926080"/>
          <a:ext cx="7635240" cy="3520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360"/>
                <a:gridCol w="2880360"/>
                <a:gridCol w="3017520"/>
              </a:tblGrid>
              <a:tr h="704088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Collection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one document is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daily_bars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Ticker + date + OHLCV + adj_close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Unique index → upserts; research reads adj_close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instruments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SSE code, name, share class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Universe for bootstrap; later: sector tags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ingest_state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Last good date per ticker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Resume after a crash without re-downloading 2010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04088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ingest_runs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One job log (ok / empty / failed)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You can see if last night’s cron actually ran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8092440" y="2926080"/>
            <a:ext cx="3749039" cy="3520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303580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Calibri"/>
              </a:rPr>
              <a:t>One daily_bars document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3364992"/>
            <a:ext cx="3474720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C1C1C"/>
                </a:solidFill>
                <a:latin typeface="Consolas"/>
              </a:rPr>
              <a:t>{
  "ticker": "600000.SS",
  "date": "2010-01-04",
  "open": 9.02, "high": 9.05,
  "low": 8.76, "close": 8.80,
  "adj_close": 8.12,
  "volume": 159964606,
  "source": "yahoo"
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DATA LAYER  · 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The required endpoint: slice a ticker by date and fields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The brief is a query contract, not a GUI. Anyone (you, a notebook, next week’s code) should be able to pull exactly the columns they need without downloading the whole database.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11548872" cy="96012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36192"/>
            <a:ext cx="11247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B8860B"/>
                </a:solidFill>
                <a:latin typeface="Consolas"/>
              </a:rPr>
              <a:t>GET /v1/timeseries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nsolas"/>
              </a:rPr>
              <a:t>?ticker=600000&amp;start=2010-01-01&amp;end=2010-01-15&amp;fields=high,low,volume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" y="2560320"/>
            <a:ext cx="5715000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70048"/>
            <a:ext cx="5486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Calibri"/>
              </a:rPr>
              <a:t>What the parameters mean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17520"/>
            <a:ext cx="54406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ticker — 600000, 600000.SS or sh600000 all become 600000.SS (Yahoo SSE form).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start / end — inclusive calendar dates. Non-trading days simply have no row.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fields — comma list from open, high, low, close, adj_close, volume. Unknown names → HTTP 400.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date is always returned, even if you did not ask for it, so the series is usable.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Omit fields and you get the full bar. Task 2 only asks for adj_close.</a:t>
            </a:r>
          </a:p>
          <a:p>
            <a:pPr>
              <a:spcBef>
                <a:spcPts val="0"/>
              </a:spcBef>
              <a:spcAft>
                <a:spcPts val="7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Swagger UI lives at /docs so a reviewer can try the contract without curl.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60320"/>
            <a:ext cx="5696712" cy="3886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267004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Calibri"/>
              </a:rPr>
              <a:t>Response (trimmed)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3017520"/>
            <a:ext cx="54406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C"/>
                </a:solidFill>
                <a:latin typeface="Consolas"/>
              </a:rPr>
              <a:t>{
  "ticker": "600000.SS",
  "start": "2010-01-01",
  "end": "2010-01-15",
  "fields": ["high", "low", "volume"],
  "count": 10,
  "data": [
    {"date": "2010-01-04",
     "high": 9.05, "low": 8.76,
     "volume": 159964606}
  ]
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DATA LAYER  ·  UPDATER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One script, two modes: full history, then every new session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Yahoo rate-limits. A 16-year load of many names will fail halfway if you do not checkpoint. The updater therefore stores the last date per ticker and always continues from there.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5715000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3"/>
                </a:solidFill>
                <a:latin typeface="Consolas"/>
              </a:rPr>
              <a:t>sse-data 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20240"/>
            <a:ext cx="5440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Pulls (or resumes) daily bars from 2010-01-01 to today.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If 600000 already has data through 2018, the next run starts on 2019-01-01.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Use --tickers for a smoke test; omit it for the full SSE A + STAR list.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696712" cy="2331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5440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F2A43"/>
                </a:solidFill>
                <a:latin typeface="Consolas"/>
              </a:rPr>
              <a:t>sse-data update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20240"/>
            <a:ext cx="544068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Same code path, smaller window: last stored date + 1 → today.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Meant for cron after the A-share close, e.g. 18:30 China time, weekdays.</a:t>
            </a:r>
          </a:p>
          <a:p>
            <a:pPr>
              <a:spcBef>
                <a:spcPts val="0"/>
              </a:spcBef>
              <a:spcAft>
                <a:spcPts val="6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Writes an ingest_runs document so you can see last night’s counts.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320040" y="3931920"/>
          <a:ext cx="11548872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200400"/>
                <a:gridCol w="6428232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Decision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Choice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Short explanation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Price source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Yahoo Finance (.SS)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Named in the brief. We keep unadjusted OHLC and adj_close.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Name list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East Money SSE A + STAR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Yahoo does not publish a stable “all SSE stocks” file.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Writes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Bulk upsert on (ticker, date)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Re-running a day repairs holes; it never creates twins.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Pace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15 names, then 2s pause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Keeps Yahoo from 429-ing a 2,000-name bootstrap.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A  ·  CORRELATION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Three formulas: return → correlation → distance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Step through them in order. We never cluster on raw prices (a ¥1,800 stock and a ¥8 stock are not comparable). We cluster on how their daily percentage moves co-vary.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44752"/>
            <a:ext cx="11548872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11292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F2A43"/>
                </a:solidFill>
                <a:latin typeface="Calibri"/>
              </a:rPr>
              <a:t>(1)  rᵢ,ₜ = ln(Pᵢ,ₜ / Pᵢ,ₜ₋₁)     log return of stock i on day t.  Example: 10.00 → 10.20  ⇒  r = ln(1.02) ≈ +1.98%.
(2)  ρᵢⱼ = Corr(rᵢ, rⱼ)           Pearson correlation over T = 252 overlapping days.  ρ = 1 lockstep, 0 unrelated, −1 opposite.
(3)  dᵢⱼ = √ 2(1 − ρᵢⱼ)           Mantegna distance.  Clustering needs a distance, not a correlation.  ρ = 1 ⇒ d = 0;  ρ = 0 ⇒ d ≈ 1.41.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2971800"/>
          <a:ext cx="681228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2468880"/>
                <a:gridCol w="3108960"/>
              </a:tblGrid>
              <a:tr h="5791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Meaning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 it is here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Pᵢ,ₜ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Adj. close of i on day 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Splits/dividends already in the price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rᵢ,ₜ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One-day log return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Additive; comparable across price levels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ρᵢⱼ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How often i and j move together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Grouping feature — not a trade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dᵢⱼ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How far i is from j in return space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Input to hierarchical clustering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791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 = 252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One trading year of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Stable ρ; not so long it mixes regimes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269480" y="2971800"/>
            <a:ext cx="4599432" cy="34747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3063240"/>
            <a:ext cx="4343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860B"/>
                </a:solidFill>
                <a:latin typeface="Calibri"/>
              </a:rPr>
              <a:t>Worked numbers (last formation)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3383280"/>
            <a:ext cx="43434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Ping An vs CPIC:  ρ = 0.84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d = √ 2(1 − 0.84) = √ 0.32 ≈ 0.57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Close in distance → same cluster (insurers).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If instead ρ = 0.10,  d ≈ 1.34.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Far apart → different clusters, no pair.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Rule of thumb we use later: only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search for pairs if |ρ| ≥ 0.50.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B  · 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Average-linkage clustering on dᵢⱼ, then cut into k groups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Think of stocks as points. Distance between two points is dᵢⱼ from the last slide. We keep merging the two closest groups until k groups remain. k is not guessed: we try 3…8 and keep the cut with the best silhouette. Last window: k = 7, silhouette = 0.185.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44752"/>
            <a:ext cx="11548872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1129284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2A43"/>
                </a:solidFill>
                <a:latin typeface="Calibri"/>
              </a:rPr>
              <a:t>(4)  D(A,B) = (1 / |A||B|)  Σᵢ∈A Σⱼ∈B dᵢⱼ     average linkage: distance between two groups = mean of all cross-pair distances.
      Why average, not single linkage? Single linkage chains (A near B, B near C ⇒ A–C merge even if A is far from C). Average is stabler for stocks.
(5)  Silhouette of a name = (b − a) / max(a, b).  a = mean d to others in its cluster;  b = mean d to the nearest other cluster.
      Near 1 = tight, well separated.  Near 0 = overlapping.  0.19 is typical for equities — groups exist, but they are not islands.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108960"/>
          <a:ext cx="11548872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"/>
                <a:gridCol w="2468880"/>
                <a:gridCol w="502920"/>
                <a:gridCol w="8074152"/>
              </a:tblGrid>
              <a:tr h="476794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#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Theme this d-matrix recovered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Members — we only form pairs inside a row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Banks / rates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SPD Bank, Minsheng, CMB, Yangtze Power, Industrial Bk, ABC, BoComm, ICBC…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Industrials / materials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 Airport, Baosteel, Sany, Poly, Conch, Haier, China Railway, CSCEC…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Insurance / brokers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CITIC Sec, Ping An, CPIC, China Life, Huatai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Consumer / liquor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Moutai, Fenjiu, Yili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476794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Energy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Sinopec, Shenhua, PetroChina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76796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Auto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SAIC, Great Wall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C  ·  PAIR SELECTION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From a cluster, keep only a hedge whose residual mean-reverts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Correlation said they move together. Cointegration asks a harder question: is there a stable linear combination of the two log prices? If yes, the leftover (the spread) is the thing we trade. If no, fading the gap is fading a random walk.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44752"/>
            <a:ext cx="11548872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1129284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2A43"/>
                </a:solidFill>
                <a:latin typeface="Calibri"/>
              </a:rPr>
              <a:t>(6)  ln P_Y,ₜ = α + β ln P_X,ₜ + εₜ      OLS: explain log Y with log X.  β̂ = hedge ratio (units of X per 1 unit of Y).
(7)  sₜ = ln P_Y,ₜ − α̂ − β̂ ln P_X,ₜ     spread = leftover after the hedge.  If cointegrated, sₜ wanders around 0, not off to infinity.
(8)  Δsₜ = λ sₜ₋₁ + uₜ                   regress today’s change in s on yesterday’s level.  Mean reversion needs λ &lt; 0.
      HL = ln(2) / |λ|                    half-life: days for a shock to s to shrink by 50%.  Example: λ = −0.076 ⇒ HL ≈ 9 days.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246120"/>
          <a:ext cx="11548872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4754880"/>
                <a:gridCol w="4828032"/>
              </a:tblGrid>
              <a:tr h="53340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Symbol / test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Plain meaning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Keep the pair only if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Y, 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The two legs, both in the same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Already passed the correlation screen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α̂, β̂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Intercept and slope of the log-log hedge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0.2 ≤ β̂ ≤ 3  (else it is not a long–short)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sₜ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How rich/cheap Y is vs that hedge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We will trade this, not the two prices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EG p-value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ADF-style test that sₜ is stationary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 &lt; 0.05  (otherwise sₜ is a random walk)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3340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λ, HL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Speed of pull-back; holding-period scale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λ &lt; 0 and  5 ≤ HL ≤ 90 trading days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C  ·  SIGNALS AND P&amp;L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Turn the spread into a z-score, then into a position and a daily return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β̂ is frozen from formation — we do not refit it on the days we trade. The z-score is rolling so a slow drift in the level of s is not treated as a 4.5σ event. Execution is next day’s close: no look-ahead, and consistent with A-share T+1.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44752"/>
            <a:ext cx="11548872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99616"/>
            <a:ext cx="112928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F2A43"/>
                </a:solidFill>
                <a:latin typeface="Calibri"/>
              </a:rPr>
              <a:t>(9)   zₜ = (sₜ − μₜ,₆₀) / σₜ,₆₀     μ, σ = mean and stdev of s over the last 60 days.  z is “how many sigmas is the spread from its recent mean?”
       z = +2.3  →  Y is 2.3σ expensive vs X  →  short the spread (short Y, long β X).   z = −2.3  →  the opposite.
(10)  posₜ ∈ {−1, 0, +1}            −1 = short spread, +1 = long spread.  Signal at close t; position actually changes at close t+1.
(11)  Rₜ ≈ posₜ₋₁ (r_Y,ₜ − β̂ r_X,ₜ)  dollar-neutral P&amp;L: you earn Y’s return, minus β times X’s return, times yesterday’s sign.
       Costs (~21 bps) are subtracted when pos changes, not every day.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429000"/>
          <a:ext cx="5715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2057400"/>
                <a:gridCol w="2103120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If z is…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We do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Until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≥ 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Short spread (Y rich)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|z| ≤ 0.5  (gap closed)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≤ −2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Long spread (Y cheap)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|z| ≤ 0.5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|z| ≥ 4.5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Stop — relation broke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Flatten immediately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held 30 days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Time stop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Do not marry the trade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signal today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Fill tomorrow’s close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T+1 / no look-ahead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172200" y="3429000"/>
          <a:ext cx="569671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1874519"/>
                <a:gridCol w="1856231"/>
              </a:tblGrid>
              <a:tr h="502920"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 piece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Level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Hits when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Commission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 bps / side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Every fill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Slippage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 bps / side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Every fill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Stamp duty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5 bps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Sells 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Open or close pair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~21 bps of one leg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pos changes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Borrow fee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Not in the P&amp;L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1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See caveats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D  ·  BACKTEST DESIGN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Estimate on one window, trade the next, then roll — never fit on the test days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A single in-sample pair list over 2010–2026 would overstate the edge. Walk-forward rebuilds clusters and hedges every quarter-sized trade window.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Calibri"/>
              </a:rPr>
              <a:t>Formation 252d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Correlate, cluster,
pick pairs, freeze 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8328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Calibri"/>
              </a:rPr>
              <a:t>Trade 63d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Signals and P&amp;L
with frozen hedge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F2A43"/>
                </a:solidFill>
                <a:latin typeface="Calibri"/>
              </a:rPr>
              <a:t>Roll +63d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5080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4A4A"/>
                </a:solidFill>
                <a:latin typeface="Calibri"/>
              </a:rPr>
              <a:t>New formation ends
where the last trade ended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61120" y="1874519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B8860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63040"/>
            <a:ext cx="2834640" cy="141732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0" y="1554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Repeat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26880" y="1965960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8D0D8"/>
                </a:solidFill>
                <a:latin typeface="Calibri"/>
              </a:rPr>
              <a:t>41 windows
35 names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320040" y="3063240"/>
          <a:ext cx="11548872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5696712"/>
              </a:tblGrid>
              <a:tr h="563880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Choice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Setting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Why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Universe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35 liquid SSE names, not the full 2,000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Yahoo coverage + we can inspect every cluster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Sample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2016-01-14 → 2026-08-14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After a 252-day warm-up from 2015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Portfolio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Equal-weight pairs; idle day = 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Does not pretend unused capital is in T-bills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Costs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3 / 5 / 5 bps comm / slip / stamp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Stylised but not zero — mega-cap edge is thin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63880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Look-ahead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None. β from formation; fill t+1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Matches T+1 and a next-bar execution assumption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Rectangle 2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D  ·  RESULTS, NET OF COSTS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Clusters recovered real industries. The residual trade did not pay for itself on mega-caps.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Read this as a research outcome: the pipeline works; this universe is too efficient after costs. That is useful for the next task.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1790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33B3B"/>
                </a:solidFill>
                <a:latin typeface="Calibri"/>
              </a:rPr>
              <a:t>-0.44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1993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Calibri"/>
              </a:rPr>
              <a:t>Sharpe, annualised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2494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Below 0 after costs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91840" y="146304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0" y="151790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33B3B"/>
                </a:solidFill>
                <a:latin typeface="Calibri"/>
              </a:rPr>
              <a:t>-5.6%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1993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Calibri"/>
              </a:rPr>
              <a:t>CAGR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22494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Start capital = 1.0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6304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51790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33B3B"/>
                </a:solidFill>
                <a:latin typeface="Calibri"/>
              </a:rPr>
              <a:t>-57.7%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1993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Calibri"/>
              </a:rPr>
              <a:t>Max drawdown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22494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Peak to trough, net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235440" y="1463040"/>
            <a:ext cx="2834640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235440" y="151790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A33B3B"/>
                </a:solidFill>
                <a:latin typeface="Calibri"/>
              </a:rPr>
              <a:t>137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1993392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F2A43"/>
                </a:solidFill>
                <a:latin typeface="Calibri"/>
              </a:rPr>
              <a:t>Round-trips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2249424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4A4A4A"/>
                </a:solidFill>
                <a:latin typeface="Calibri"/>
              </a:rPr>
              <a:t>16.36d avg hold · 3 stops</a:t>
            </a:r>
          </a:p>
        </p:txBody>
      </p:sp>
      <p:graphicFrame>
        <p:nvGraphicFramePr>
          <p:cNvPr id="25" name="Chart 24"/>
          <p:cNvGraphicFramePr>
            <a:graphicFrameLocks noGrp="1"/>
          </p:cNvGraphicFramePr>
          <p:nvPr/>
        </p:nvGraphicFramePr>
        <p:xfrm>
          <a:off x="228600" y="2788920"/>
          <a:ext cx="7589520" cy="3703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6" name="Rounded Rectangle 25"/>
          <p:cNvSpPr/>
          <p:nvPr/>
        </p:nvSpPr>
        <p:spPr>
          <a:xfrm>
            <a:off x="7818120" y="2834640"/>
            <a:ext cx="4023360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55279" y="2944368"/>
            <a:ext cx="37947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2A43"/>
                </a:solidFill>
                <a:latin typeface="Calibri"/>
              </a:rPr>
              <a:t>How to read the curve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55279" y="3291840"/>
            <a:ext cx="3794760" cy="2971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Y-axis is net equity, start = 1. A finish below 1 means costs + residual noise won.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Stops were rare (3 of 137). We were not blown up by 4.5σ events; we were nickeled by turnover.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2017 and 2021 are the weak years — crowded quality / liquor / bank pairs de-rated together.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200">
                <a:solidFill>
                  <a:srgbClr val="1C1C1C"/>
                </a:solidFill>
                <a:latin typeface="Calibri"/>
              </a:rPr>
              <a:t>•  Takeaway for next week: same API, harder universe (mid-caps), or a borrow-aware rule.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LIMITS AND 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What this backtest does not claim — and what we would change without touching MongoDB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Honesty here is part of the methodology. A-share microstructure is not US equity microstructure.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5715000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Calibri"/>
              </a:rPr>
              <a:t>Caveats  (do not hide these)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965960"/>
            <a:ext cx="54406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Shorting: 融资融券 is limited and often expensive. We assume the short leg is available at 5 bps slippage. Live trading needs a borrow screen or a long-only spread.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Limits: main board ±10% can gap the spread through the stop; STAR is ±20%.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Vendor: Yahoo adj_close can disagree with Wind / Tushare on a handful of corporate actions.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Costs: 3/5/5 bps is stylised. Institutional commissions are lower; borrow is extra.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Search: walk-forward stops us fitting β on trade days. It does not stop us choosing z = 2 after seeing results.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1463040"/>
            <a:ext cx="5696712" cy="4983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572768"/>
            <a:ext cx="5440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A43"/>
                </a:solidFill>
                <a:latin typeface="Calibri"/>
              </a:rPr>
              <a:t>Keep the data system. Change the book.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965960"/>
            <a:ext cx="5440680" cy="4251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Do not rebuild MongoDB or /v1/timeseries. That was the point of this week.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Point research at mid-caps / less crowded SSE names — the brief said the edge is larger where competition is thinner.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Store industry on instruments and compare GICS clusters with correlation clusters.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Add a borrow flag before claiming a live long–short P&amp;L.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300">
                <a:solidFill>
                  <a:srgbClr val="1C1C1C"/>
                </a:solidFill>
                <a:latin typeface="Calibri"/>
              </a:rPr>
              <a:t>•  The 3 stop-outs vs 137 trades say the stop is not the problem. Capacity and costs are.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21792"/>
            <a:ext cx="12191695" cy="45720"/>
          </a:xfrm>
          <a:prstGeom prst="rect">
            <a:avLst/>
          </a:prstGeom>
          <a:solidFill>
            <a:srgbClr val="B886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36576"/>
            <a:ext cx="11430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B8860B"/>
                </a:solidFill>
                <a:latin typeface="Calibri"/>
              </a:rPr>
              <a:t>APPENDIX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How a reviewer runs it — same artefacts next week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0040" y="768096"/>
            <a:ext cx="11548872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9C4B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804672"/>
            <a:ext cx="11338560" cy="493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4A4A4A"/>
                </a:solidFill>
                <a:latin typeface="Calibri"/>
              </a:rPr>
              <a:t>Commands assume MongoDB on 127.0.0.1:27017 and the project venv. Full formulas: docs/TASK2_METHODS.md.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463040"/>
            <a:ext cx="11548872" cy="2148840"/>
          </a:xfrm>
          <a:prstGeom prst="roundRect">
            <a:avLst>
              <a:gd name="adj" fmla="val 6000"/>
            </a:avLst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572768"/>
            <a:ext cx="112928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onsolas"/>
              </a:rPr>
              <a:t>sse-data bootstrap --tickers 600000,600519,…     # history since 2010 (resume-safe)
sse-data update                                   # last date → today   (cron this)
sse-data serve                                    # API  :8000/docs  and  /v1/timeseries
sse-data research                                 # cluster + walk-forward → JSON + this deck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749039"/>
          <a:ext cx="11548872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3931920"/>
                <a:gridCol w="5696712"/>
              </a:tblGrid>
              <a:tr h="539496"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Artefact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Path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What to extend later</a:t>
                      </a:r>
                    </a:p>
                  </a:txBody>
                  <a:tcPr anchor="ctr">
                    <a:solidFill>
                      <a:srgbClr val="0F2A43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This deck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docs/SSE_StatArb_Slides.pptx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Keep as the methods narrative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Formulas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docs/TASK2_METHODS.md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A/B/C with full equations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Numbers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data/research/task2_results.json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Swap universe, rerun research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39496"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API / DB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src/sse_data/  ·  Mongo sse_market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defRPr sz="1200">
                          <a:solidFill>
                            <a:srgbClr val="1C1C1C"/>
                          </a:solidFill>
                          <a:latin typeface="Calibri"/>
                        </a:defRPr>
                      </a:pPr>
                      <a:r>
                        <a:t>Add fields, not new databases</a:t>
                      </a:r>
                    </a:p>
                  </a:txBody>
                  <a:tcPr anchor="ctr">
                    <a:solidFill>
                      <a:srgbClr val="E8EEF2"/>
                    </a:solidFill>
                  </a:tcPr>
                </a:tc>
              </a:tr>
            </a:tbl>
          </a:graphicData>
        </a:graphic>
      </p:graphicFrame>
      <p:sp>
        <p:nvSpPr>
          <p:cNvPr id="12" name="Rectangle 11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0F2A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6656832"/>
            <a:ext cx="9144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Asia Quant Academy  ·  SSE statistical arbitrage  ·  17 August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665683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FFFFFF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